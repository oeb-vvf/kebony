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bo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63289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Inter Bold"/>
              </a:defRPr>
            </a:pPr>
            <a:r>
              <a:t>ERP Modernization — Meeting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0BC"/>
                </a:solidFill>
                <a:latin typeface="Inter"/>
              </a:defRPr>
            </a:pPr>
            <a:r>
              <a:t>Steering Committee  | 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Inter"/>
              </a:defRPr>
            </a:pPr>
            <a:r>
              <a:t>Kebony  |  ERP Modernization  |  Steering Committee  |  March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3716000" cy="1097280"/>
          </a:xfrm>
          <a:prstGeom prst="round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 Bold"/>
              </a:defRPr>
            </a:pPr>
            <a:r>
              <a:t>Project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E8F8"/>
                </a:solidFill>
                <a:latin typeface="Inter"/>
              </a:rPr>
              <a:t>Go-live postponed to </a:t>
            </a:r>
            <a:r>
              <a:rPr sz="1700" b="1">
                <a:solidFill>
                  <a:srgbClr val="E8E8F8"/>
                </a:solidFill>
                <a:latin typeface="Inter"/>
              </a:rPr>
              <a:t>1st July 2026</a:t>
            </a:r>
            <a:r>
              <a:rPr sz="1700" b="0">
                <a:solidFill>
                  <a:srgbClr val="E8E8F8"/>
                </a:solidFill>
                <a:latin typeface="Inter"/>
              </a:rPr>
              <a:t>   |   Project readiness target: </a:t>
            </a:r>
            <a:r>
              <a:rPr sz="1700" b="1">
                <a:solidFill>
                  <a:srgbClr val="E8E8F8"/>
                </a:solidFill>
                <a:latin typeface="Inter"/>
              </a:rPr>
              <a:t>1st June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3246120" cy="192024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154679"/>
            <a:ext cx="54864" cy="164592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79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2525"/>
                </a:solidFill>
                <a:latin typeface="Inter Bold"/>
              </a:defRPr>
            </a:pPr>
            <a:r>
              <a:t>Campaigning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39"/>
            <a:ext cx="2834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Scope to be confirmed in April for go-live 01/07/2026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017520"/>
            <a:ext cx="3246120" cy="192024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3154679"/>
            <a:ext cx="54864" cy="164592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3154679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2525"/>
                </a:solidFill>
                <a:latin typeface="Inter Bold"/>
              </a:defRPr>
            </a:pPr>
            <a:r>
              <a:t>HR &amp; Payroll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520439"/>
            <a:ext cx="2834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Test run: August 2026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Go-live: September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017520"/>
            <a:ext cx="3246120" cy="192024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3154679"/>
            <a:ext cx="54864" cy="164592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3154679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2525"/>
                </a:solidFill>
                <a:latin typeface="Inter Bold"/>
              </a:defRPr>
            </a:pPr>
            <a:r>
              <a:t>Management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520439"/>
            <a:ext cx="2834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Data processing latency to be evaluated if reporting is done in Odoo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Full scope (Power BI, MS Fabric) to be confirmed for Q4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18519" y="3017520"/>
            <a:ext cx="3246120" cy="192024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18519" y="3154679"/>
            <a:ext cx="54864" cy="164592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19" y="3154679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2525"/>
                </a:solidFill>
                <a:latin typeface="Inter Bold"/>
              </a:defRPr>
            </a:pPr>
            <a: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19" y="3520439"/>
            <a:ext cx="2834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Blueprint to be revised to allow for BU + legal entity and country level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66360"/>
            <a:ext cx="3246120" cy="228600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54864" cy="20116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03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2525"/>
                </a:solidFill>
                <a:latin typeface="Inter Bold"/>
              </a:defRPr>
            </a:pPr>
            <a:r>
              <a:t>Product Master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69280"/>
            <a:ext cx="28346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To be revalidated before go-live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5166360"/>
            <a:ext cx="3246120" cy="228600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77639" y="5303520"/>
            <a:ext cx="54864" cy="20116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5303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2525"/>
                </a:solidFill>
                <a:latin typeface="Inter Bold"/>
              </a:defRPr>
            </a:pPr>
            <a:r>
              <a:t>Costing &amp; Manufacturing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669280"/>
            <a:ext cx="28346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Blueprint to be reviewed and validated by CFO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5166360"/>
            <a:ext cx="3246120" cy="228600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5303520"/>
            <a:ext cx="54864" cy="2011680"/>
          </a:xfrm>
          <a:prstGeom prst="rect">
            <a:avLst/>
          </a:prstGeom>
          <a:solidFill>
            <a:srgbClr val="D48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5303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2525"/>
                </a:solidFill>
                <a:latin typeface="Inter Bold"/>
              </a:defRPr>
            </a:pPr>
            <a:r>
              <a:t>Approval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5669280"/>
            <a:ext cx="28346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Safety error margin (%) on quantity/price discrepancy?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Exceptions to the PO process?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Link with the budgeting process?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18519" y="5166360"/>
            <a:ext cx="3246120" cy="228600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018519" y="5303520"/>
            <a:ext cx="54864" cy="20116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19" y="5303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2525"/>
                </a:solidFill>
                <a:latin typeface="Inter Bold"/>
              </a:defRPr>
            </a:pPr>
            <a:r>
              <a:t>GDPR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19" y="5669280"/>
            <a:ext cx="28346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To be included in scope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Data structure for reporting to be reviewed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bo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63289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Inter Bold"/>
              </a:defRPr>
            </a:pPr>
            <a:r>
              <a:t>Actions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0BC"/>
                </a:solidFill>
                <a:latin typeface="Inter"/>
              </a:defRPr>
            </a:pPr>
            <a:r>
              <a:t>Steering Committee  | 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Inter"/>
              </a:defRPr>
            </a:pPr>
            <a:r>
              <a:t>Kebony  |  ERP Modernization  |  Steering Committee  |  March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6583680" cy="182880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39"/>
            <a:ext cx="54864" cy="15544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3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2525"/>
                </a:solidFill>
                <a:latin typeface="Inter Bold"/>
              </a:defRPr>
            </a:pPr>
            <a:r>
              <a:t>Change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6172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Super Key Users to be identified and appointed per workstream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Training plan to be defined once Key Users are confirmed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June testing period dedicated to hands-on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554480"/>
            <a:ext cx="6858000" cy="182880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1691639"/>
            <a:ext cx="54864" cy="15544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691639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2525"/>
                </a:solidFill>
                <a:latin typeface="Inter Bold"/>
              </a:defRPr>
            </a:pPr>
            <a:r>
              <a:t>Project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6446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Olivier &amp; Olga to escalate risks via structured gate-keeping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Signed-off workstream approvals to be introduced</a:t>
            </a:r>
          </a:p>
          <a:p>
            <a:pPr>
              <a:lnSpc>
                <a:spcPts val="1600"/>
              </a:lnSpc>
              <a:spcAft>
                <a:spcPts val="400"/>
              </a:spcAft>
              <a:defRPr sz="1200">
                <a:solidFill>
                  <a:srgbClr val="272525"/>
                </a:solidFill>
                <a:latin typeface="Inter"/>
              </a:defRPr>
            </a:pPr>
            <a:r>
              <a:t>Detailed project timeline to be published (workshops + testing sessions)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13716000" cy="4114800"/>
          </a:xfrm>
          <a:prstGeom prst="roundRect">
            <a:avLst/>
          </a:prstGeom>
          <a:solidFill>
            <a:srgbClr val="F7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13716000" cy="4572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59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Bold"/>
              </a:defRPr>
            </a:pPr>
            <a:r>
              <a:t>Action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79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2525"/>
                </a:solidFill>
                <a:latin typeface="Inter Bold"/>
              </a:defRPr>
            </a:pPr>
            <a:r>
              <a:t>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97679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2525"/>
                </a:solidFill>
                <a:latin typeface="Inter Bold"/>
              </a:defRPr>
            </a:pPr>
            <a: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4297679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2525"/>
                </a:solidFill>
                <a:latin typeface="Inter Bold"/>
              </a:defRPr>
            </a:pPr>
            <a:r>
              <a:t>Target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4736591"/>
            <a:ext cx="109728" cy="109728"/>
          </a:xfrm>
          <a:prstGeom prst="ellipse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45151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Olivier &amp; Olga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645151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Fix and share detailed project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4645151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April 2026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5084063"/>
            <a:ext cx="109728" cy="109728"/>
          </a:xfrm>
          <a:prstGeom prst="ellipse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92623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Olivier &amp; Olga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992623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Book implementation workshops and testing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4992623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April 2026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5431535"/>
            <a:ext cx="109728" cy="109728"/>
          </a:xfrm>
          <a:prstGeom prst="ellipse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40095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Olivier &amp; Olga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340095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Introduce gate-keeping / workstream sign-off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340095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April 2026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" y="5779007"/>
            <a:ext cx="109728" cy="109728"/>
          </a:xfrm>
          <a:prstGeom prst="ellipse">
            <a:avLst/>
          </a:prstGeom>
          <a:solidFill>
            <a:srgbClr val="D48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87567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Project 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687567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Confirm campaigning scope for go-live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5687567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April 2026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" y="6126479"/>
            <a:ext cx="109728" cy="109728"/>
          </a:xfrm>
          <a:prstGeom prst="ellipse">
            <a:avLst/>
          </a:prstGeom>
          <a:solidFill>
            <a:srgbClr val="D48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035039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Project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6035039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Identify and appoint Super Key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035039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April 2026</a:t>
            </a:r>
          </a:p>
        </p:txBody>
      </p:sp>
      <p:sp>
        <p:nvSpPr>
          <p:cNvPr id="40" name="Oval 39"/>
          <p:cNvSpPr/>
          <p:nvPr/>
        </p:nvSpPr>
        <p:spPr>
          <a:xfrm>
            <a:off x="502920" y="6473951"/>
            <a:ext cx="109728" cy="109728"/>
          </a:xfrm>
          <a:prstGeom prst="ellipse">
            <a:avLst/>
          </a:prstGeom>
          <a:solidFill>
            <a:srgbClr val="D48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382511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CFO / Finance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6382511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Review and validate costing &amp; manufacturing blueprint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382511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April 2026</a:t>
            </a:r>
          </a:p>
        </p:txBody>
      </p:sp>
      <p:sp>
        <p:nvSpPr>
          <p:cNvPr id="44" name="Oval 43"/>
          <p:cNvSpPr/>
          <p:nvPr/>
        </p:nvSpPr>
        <p:spPr>
          <a:xfrm>
            <a:off x="502920" y="6821423"/>
            <a:ext cx="109728" cy="109728"/>
          </a:xfrm>
          <a:prstGeom prst="ellipse">
            <a:avLst/>
          </a:prstGeom>
          <a:solidFill>
            <a:srgbClr val="D48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729983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Project 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6729983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Revalidate product master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729983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May 2026</a:t>
            </a:r>
          </a:p>
        </p:txBody>
      </p:sp>
      <p:sp>
        <p:nvSpPr>
          <p:cNvPr id="48" name="Oval 47"/>
          <p:cNvSpPr/>
          <p:nvPr/>
        </p:nvSpPr>
        <p:spPr>
          <a:xfrm>
            <a:off x="502920" y="7168895"/>
            <a:ext cx="109728" cy="109728"/>
          </a:xfrm>
          <a:prstGeom prst="ellipse">
            <a:avLst/>
          </a:prstGeom>
          <a:solidFill>
            <a:srgbClr val="D48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7077455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Project Team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7077455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Revise approval workflow blueprint (margins, exceptions, budget link)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7077455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April 2026</a:t>
            </a:r>
          </a:p>
        </p:txBody>
      </p:sp>
      <p:sp>
        <p:nvSpPr>
          <p:cNvPr id="52" name="Oval 51"/>
          <p:cNvSpPr/>
          <p:nvPr/>
        </p:nvSpPr>
        <p:spPr>
          <a:xfrm>
            <a:off x="502920" y="7516367"/>
            <a:ext cx="109728" cy="109728"/>
          </a:xfrm>
          <a:prstGeom prst="ellipse">
            <a:avLst/>
          </a:prstGeom>
          <a:solidFill>
            <a:srgbClr val="D48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7424927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Project Team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7520" y="7424927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Include GDPR compliance in scope — review data structure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7424927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2525"/>
                </a:solidFill>
                <a:latin typeface="Inter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