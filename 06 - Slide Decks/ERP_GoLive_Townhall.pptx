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bo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415187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630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0000"/>
                </a:solidFill>
                <a:latin typeface="Inter Bold"/>
              </a:defRPr>
            </a:pPr>
            <a:r>
              <a:t>ERP Go-Live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960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950BC"/>
                </a:solidFill>
                <a:latin typeface="Inter"/>
              </a:defRPr>
            </a:pPr>
            <a:r>
              <a:t>New target: July 1st, 2026  |  Townhall Update  |  March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4114800" cy="4206240"/>
          </a:xfrm>
          <a:prstGeom prst="roundRect">
            <a:avLst/>
          </a:prstGeom>
          <a:solidFill>
            <a:srgbClr val="DAD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65960"/>
            <a:ext cx="548640" cy="548640"/>
          </a:xfrm>
          <a:prstGeom prst="ellipse">
            <a:avLst/>
          </a:prstGeom>
          <a:solidFill>
            <a:srgbClr val="495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Inter Bold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defRPr sz="2000" b="1">
                <a:solidFill>
                  <a:srgbClr val="272525"/>
                </a:solidFill>
                <a:latin typeface="Inter Bold"/>
              </a:defRPr>
            </a:pPr>
            <a:r>
              <a:t>Factoring Program</a:t>
            </a:r>
            <a:br/>
            <a:r>
              <a:t>Transition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>
                <a:solidFill>
                  <a:srgbClr val="272525"/>
                </a:solidFill>
                <a:latin typeface="Inter"/>
              </a:defRPr>
            </a:pPr>
            <a:r>
              <a:t>The factoring program is moving from Norway to Belgium — a process that takes approximately two months.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>
                <a:solidFill>
                  <a:srgbClr val="4A4A4A"/>
                </a:solidFill>
                <a:latin typeface="Inter"/>
              </a:defRPr>
            </a:pPr>
            <a:r>
              <a:t>From a customer perspective, we want to make this switch only once. The ERP go-live and factoring transition need to go hand in hand.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1691640"/>
            <a:ext cx="4114800" cy="4206240"/>
          </a:xfrm>
          <a:prstGeom prst="roundRect">
            <a:avLst/>
          </a:prstGeom>
          <a:solidFill>
            <a:srgbClr val="DAD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57800" y="1965960"/>
            <a:ext cx="548640" cy="548640"/>
          </a:xfrm>
          <a:prstGeom prst="ellipse">
            <a:avLst/>
          </a:prstGeom>
          <a:solidFill>
            <a:srgbClr val="495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Inter Bold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269748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defRPr sz="2000" b="1">
                <a:solidFill>
                  <a:srgbClr val="272525"/>
                </a:solidFill>
                <a:latin typeface="Inter Bold"/>
              </a:defRPr>
            </a:pPr>
            <a:r>
              <a:t>Revisiting Costing</a:t>
            </a:r>
            <a:br/>
            <a:r>
              <a:t>Principles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361188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>
                <a:solidFill>
                  <a:srgbClr val="272525"/>
                </a:solidFill>
                <a:latin typeface="Inter"/>
              </a:defRPr>
            </a:pPr>
            <a:r>
              <a:t>We want to revisit key implementation principles — mainly costing — to deliver a real improvement over the previous AX implementation.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470916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>
                <a:solidFill>
                  <a:srgbClr val="4A4A4A"/>
                </a:solidFill>
                <a:latin typeface="Inter"/>
              </a:defRPr>
            </a:pPr>
            <a:r>
              <a:t>This requires additional time for proper analysis and design, ensuring we get it right from day 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1691640"/>
            <a:ext cx="4114800" cy="4206240"/>
          </a:xfrm>
          <a:prstGeom prst="roundRect">
            <a:avLst/>
          </a:prstGeom>
          <a:solidFill>
            <a:srgbClr val="DAD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784080" y="1965960"/>
            <a:ext cx="548640" cy="548640"/>
          </a:xfrm>
          <a:prstGeom prst="ellipse">
            <a:avLst/>
          </a:prstGeom>
          <a:solidFill>
            <a:srgbClr val="495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  <a:latin typeface="Inter Bold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269748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defRPr sz="2000" b="1">
                <a:solidFill>
                  <a:srgbClr val="272525"/>
                </a:solidFill>
                <a:latin typeface="Inter Bold"/>
              </a:defRPr>
            </a:pPr>
            <a:r>
              <a:t>New C-Team</a:t>
            </a:r>
            <a:br/>
            <a:r>
              <a:t>Perspectives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361188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>
                <a:solidFill>
                  <a:srgbClr val="272525"/>
                </a:solidFill>
                <a:latin typeface="Inter"/>
              </a:defRPr>
            </a:pPr>
            <a:r>
              <a:t>We want to incorporate the vision and input of the newest members of the C-team into this critical project.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470916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>
                <a:solidFill>
                  <a:srgbClr val="4A4A4A"/>
                </a:solidFill>
                <a:latin typeface="Inter"/>
              </a:defRPr>
            </a:pPr>
            <a:r>
              <a:t>Their fresh perspective will help ensure the ERP implementation fully supports our strategic direction.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6217920"/>
            <a:ext cx="13716000" cy="1371600"/>
          </a:xfrm>
          <a:prstGeom prst="roundRect">
            <a:avLst/>
          </a:prstGeom>
          <a:solidFill>
            <a:srgbClr val="4950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6355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Inter Bold"/>
              </a:defRPr>
            </a:pPr>
            <a:r>
              <a:t>Our Path Forward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766559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600">
                <a:solidFill>
                  <a:srgbClr val="E0E0F8"/>
                </a:solidFill>
                <a:latin typeface="Inter"/>
              </a:defRPr>
            </a:pPr>
            <a:r>
              <a:t>Target: system ready by June 1st  →  Go-live July 1st, 2026.  The extra weeks in June give us a dedicated testing period before the summer holiday season — ensuring a smoother, more confident launch for everyone.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